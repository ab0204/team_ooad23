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nkitaVilasPimpalkar08/CSCI_6234_Spring_2026_G23"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058400" cy="1828800"/>
          </a:xfrm>
          <a:prstGeom prst="rect">
            <a:avLst/>
          </a:prstGeom>
          <a:noFill/>
        </p:spPr>
        <p:txBody>
          <a:bodyPr wrap="square">
            <a:spAutoFit/>
          </a:bodyPr>
          <a:lstStyle/>
          <a:p>
            <a:pPr algn="ctr">
              <a:defRPr sz="3600" b="1">
                <a:solidFill>
                  <a:srgbClr val="003366"/>
                </a:solidFill>
              </a:defRPr>
            </a:pPr>
            <a:r>
              <a:t>F1 Race Performance Analysis Tool</a:t>
            </a:r>
          </a:p>
          <a:p>
            <a:pPr algn="ctr">
              <a:defRPr sz="2000">
                <a:solidFill>
                  <a:srgbClr val="505050"/>
                </a:solidFill>
              </a:defRPr>
            </a:pPr>
            <a:r>
              <a:t>Group #23 (OOAD - Spring 2026)</a:t>
            </a:r>
            <a:br/>
            <a:br/>
            <a:r>
              <a:t>Abhi Bhardwaj | Ankita Pimpalkar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defRPr sz="2800" b="1">
                <a:solidFill>
                  <a:srgbClr val="003366"/>
                </a:solidFill>
              </a:defRPr>
            </a:pPr>
            <a:r>
              <a:t>Project Description</a:t>
            </a:r>
          </a:p>
        </p:txBody>
      </p:sp>
      <p:sp>
        <p:nvSpPr>
          <p:cNvPr id="3" name="TextBox 2"/>
          <p:cNvSpPr txBox="1"/>
          <p:nvPr/>
        </p:nvSpPr>
        <p:spPr>
          <a:xfrm>
            <a:off x="457200" y="1188720"/>
            <a:ext cx="10972800" cy="5029200"/>
          </a:xfrm>
          <a:prstGeom prst="rect">
            <a:avLst/>
          </a:prstGeom>
          <a:noFill/>
        </p:spPr>
        <p:txBody>
          <a:bodyPr wrap="square">
            <a:spAutoFit/>
          </a:bodyPr>
          <a:lstStyle/>
          <a:p>
            <a:pPr>
              <a:lnSpc>
                <a:spcPts val="2800"/>
              </a:lnSpc>
              <a:defRPr sz="1800"/>
            </a:pPr>
            <a:r>
              <a:t>The F1 Race Performance Analysis Tool is a web-based application that enables Formula 1 fans and analysts to explore and compare race performance data using the FastF1 API. Users can select a specific season, race, and session, choose drivers to compare, and generate interactive visualizations including lap time comparisons, position tracking over laps, and tyre stint strategies. The system retrieves real-time telemetry and timing data from the FastF1 library, processes it through a backend service, and presents the results as dynamic charts. This tool bridges the gap between raw race data and meaningful visual insights, making it easier for enthusiasts and professionals to analyze race strategies and driver performance.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defRPr sz="2800" b="1">
                <a:solidFill>
                  <a:srgbClr val="003366"/>
                </a:solidFill>
              </a:defRPr>
            </a:pPr>
            <a:r>
              <a:t>Use Case Model</a:t>
            </a:r>
          </a:p>
        </p:txBody>
      </p:sp>
      <p:pic>
        <p:nvPicPr>
          <p:cNvPr id="3" name="Picture 2" descr="UseCaseDiagram.png"/>
          <p:cNvPicPr>
            <a:picLocks noChangeAspect="1"/>
          </p:cNvPicPr>
          <p:nvPr/>
        </p:nvPicPr>
        <p:blipFill>
          <a:blip r:embed="rId2"/>
          <a:stretch>
            <a:fillRect/>
          </a:stretch>
        </p:blipFill>
        <p:spPr>
          <a:xfrm>
            <a:off x="457200" y="1371600"/>
            <a:ext cx="10972800" cy="5029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defRPr sz="2800" b="1">
                <a:solidFill>
                  <a:srgbClr val="003366"/>
                </a:solidFill>
              </a:defRPr>
            </a:pPr>
            <a:r>
              <a:t>Robustness Diagram: Select Season, Race &amp; Session</a:t>
            </a:r>
          </a:p>
        </p:txBody>
      </p:sp>
      <p:pic>
        <p:nvPicPr>
          <p:cNvPr id="3" name="Picture 2" descr="Select_Season_Race_Session.png"/>
          <p:cNvPicPr>
            <a:picLocks noChangeAspect="1"/>
          </p:cNvPicPr>
          <p:nvPr/>
        </p:nvPicPr>
        <p:blipFill>
          <a:blip r:embed="rId2"/>
          <a:stretch>
            <a:fillRect/>
          </a:stretch>
        </p:blipFill>
        <p:spPr>
          <a:xfrm>
            <a:off x="457200" y="1371600"/>
            <a:ext cx="10972800" cy="5029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defRPr sz="2800" b="1">
                <a:solidFill>
                  <a:srgbClr val="003366"/>
                </a:solidFill>
              </a:defRPr>
            </a:pPr>
            <a:r>
              <a:t>Robustness Diagram: Select Drivers</a:t>
            </a:r>
          </a:p>
        </p:txBody>
      </p:sp>
      <p:pic>
        <p:nvPicPr>
          <p:cNvPr id="3" name="Picture 2" descr="Select_Drivers.png"/>
          <p:cNvPicPr>
            <a:picLocks noChangeAspect="1"/>
          </p:cNvPicPr>
          <p:nvPr/>
        </p:nvPicPr>
        <p:blipFill>
          <a:blip r:embed="rId2"/>
          <a:stretch>
            <a:fillRect/>
          </a:stretch>
        </p:blipFill>
        <p:spPr>
          <a:xfrm>
            <a:off x="457200" y="1371600"/>
            <a:ext cx="10972800" cy="5029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defRPr sz="2800" b="1">
                <a:solidFill>
                  <a:srgbClr val="003366"/>
                </a:solidFill>
              </a:defRPr>
            </a:pPr>
            <a:r>
              <a:t>Robustness Diagram: View Lap Time Comparison</a:t>
            </a:r>
          </a:p>
        </p:txBody>
      </p:sp>
      <p:pic>
        <p:nvPicPr>
          <p:cNvPr id="3" name="Picture 2" descr="View_Lap_Time_Comparison.png"/>
          <p:cNvPicPr>
            <a:picLocks noChangeAspect="1"/>
          </p:cNvPicPr>
          <p:nvPr/>
        </p:nvPicPr>
        <p:blipFill>
          <a:blip r:embed="rId2"/>
          <a:stretch>
            <a:fillRect/>
          </a:stretch>
        </p:blipFill>
        <p:spPr>
          <a:xfrm>
            <a:off x="457200" y="1371600"/>
            <a:ext cx="10972800"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defRPr sz="2800" b="1">
                <a:solidFill>
                  <a:srgbClr val="003366"/>
                </a:solidFill>
              </a:defRPr>
            </a:pPr>
            <a:r>
              <a:t>Robustness Diagram: View Position Over Laps</a:t>
            </a:r>
          </a:p>
        </p:txBody>
      </p:sp>
      <p:pic>
        <p:nvPicPr>
          <p:cNvPr id="3" name="Picture 2" descr="View_Position_Over_Laps.png"/>
          <p:cNvPicPr>
            <a:picLocks noChangeAspect="1"/>
          </p:cNvPicPr>
          <p:nvPr/>
        </p:nvPicPr>
        <p:blipFill>
          <a:blip r:embed="rId2"/>
          <a:stretch>
            <a:fillRect/>
          </a:stretch>
        </p:blipFill>
        <p:spPr>
          <a:xfrm>
            <a:off x="457200" y="1371600"/>
            <a:ext cx="10972800"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defRPr sz="2800" b="1">
                <a:solidFill>
                  <a:srgbClr val="003366"/>
                </a:solidFill>
              </a:defRPr>
            </a:pPr>
            <a:r>
              <a:t>Robustness Diagram: View Tyre Stints</a:t>
            </a:r>
          </a:p>
        </p:txBody>
      </p:sp>
      <p:pic>
        <p:nvPicPr>
          <p:cNvPr id="3" name="Picture 2" descr="View_Tyre_Stints.png"/>
          <p:cNvPicPr>
            <a:picLocks noChangeAspect="1"/>
          </p:cNvPicPr>
          <p:nvPr/>
        </p:nvPicPr>
        <p:blipFill>
          <a:blip r:embed="rId2"/>
          <a:stretch>
            <a:fillRect/>
          </a:stretch>
        </p:blipFill>
        <p:spPr>
          <a:xfrm>
            <a:off x="457200" y="1371600"/>
            <a:ext cx="10972800"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defRPr sz="2800" b="1">
                <a:solidFill>
                  <a:srgbClr val="003366"/>
                </a:solidFill>
              </a:defRPr>
            </a:pPr>
            <a:r>
              <a:t>Domain Model (UML Class Diagram)</a:t>
            </a:r>
          </a:p>
        </p:txBody>
      </p:sp>
      <p:pic>
        <p:nvPicPr>
          <p:cNvPr id="3" name="Picture 2" descr="DomainModel.png"/>
          <p:cNvPicPr>
            <a:picLocks noChangeAspect="1"/>
          </p:cNvPicPr>
          <p:nvPr/>
        </p:nvPicPr>
        <p:blipFill>
          <a:blip r:embed="rId2"/>
          <a:stretch>
            <a:fillRect/>
          </a:stretch>
        </p:blipFill>
        <p:spPr>
          <a:xfrm>
            <a:off x="457200" y="1371600"/>
            <a:ext cx="10972800" cy="5029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058400" cy="2743200"/>
          </a:xfrm>
          <a:prstGeom prst="rect">
            <a:avLst/>
          </a:prstGeom>
          <a:noFill/>
        </p:spPr>
        <p:txBody>
          <a:bodyPr wrap="square">
            <a:spAutoFit/>
          </a:bodyPr>
          <a:lstStyle/>
          <a:p>
            <a:pPr algn="ctr">
              <a:defRPr sz="3200" b="1">
                <a:solidFill>
                  <a:srgbClr val="003366"/>
                </a:solidFill>
              </a:defRPr>
            </a:pPr>
            <a:r>
              <a:t>GitHub Repository</a:t>
            </a:r>
          </a:p>
          <a:p>
            <a:pPr>
              <a:defRPr sz="1200"/>
            </a:pPr>
          </a:p>
          <a:p>
            <a:pPr algn="ctr"/>
            <a:r>
              <a:rPr sz="2000" u="sng">
                <a:solidFill>
                  <a:srgbClr val="0066CC"/>
                </a:solidFill>
                <a:hlinkClick r:id="rId2"/>
              </a:rPr>
              <a:t>https://github.com/AnkitaVilasPimpalkar08/CSCI_6234_Spring_2026_G23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