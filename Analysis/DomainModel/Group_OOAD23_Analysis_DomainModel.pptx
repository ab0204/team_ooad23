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0"/>
    <p:restoredTop sz="94722"/>
  </p:normalViewPr>
  <p:slideViewPr>
    <p:cSldViewPr snapToGrid="0" snapToObjects="1">
      <p:cViewPr>
        <p:scale>
          <a:sx n="104" d="100"/>
          <a:sy n="104" d="100"/>
        </p:scale>
        <p:origin x="728" y="1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05C7CF-FE53-475F-8951-A341B20BA32D}" type="doc">
      <dgm:prSet loTypeId="urn:microsoft.com/office/officeart/2005/8/layout/hierarchy1" loCatId="hierarchy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C162787-CF3C-42BE-AD86-66FDE2BFBE28}">
      <dgm:prSet custT="1"/>
      <dgm:spPr/>
      <dgm:t>
        <a:bodyPr/>
        <a:lstStyle/>
        <a:p>
          <a:r>
            <a:rPr lang="en-US" sz="4000" b="1" dirty="0"/>
            <a:t>F1 Race Performance Analysis Tool</a:t>
          </a:r>
          <a:endParaRPr lang="en-US" sz="4000" dirty="0"/>
        </a:p>
      </dgm:t>
    </dgm:pt>
    <dgm:pt modelId="{68B1F49E-7398-4CA6-AEAF-92B88D7AB439}" type="parTrans" cxnId="{B2E0675A-7FE7-4127-918B-0364466AC752}">
      <dgm:prSet/>
      <dgm:spPr/>
      <dgm:t>
        <a:bodyPr/>
        <a:lstStyle/>
        <a:p>
          <a:endParaRPr lang="en-US"/>
        </a:p>
      </dgm:t>
    </dgm:pt>
    <dgm:pt modelId="{572B1A6D-B70B-425A-A050-734E144F03F3}" type="sibTrans" cxnId="{B2E0675A-7FE7-4127-918B-0364466AC752}">
      <dgm:prSet/>
      <dgm:spPr/>
      <dgm:t>
        <a:bodyPr/>
        <a:lstStyle/>
        <a:p>
          <a:endParaRPr lang="en-US"/>
        </a:p>
      </dgm:t>
    </dgm:pt>
    <dgm:pt modelId="{2E7CBA23-4630-4FED-AFFA-1E3DAF2CF811}">
      <dgm:prSet/>
      <dgm:spPr/>
      <dgm:t>
        <a:bodyPr/>
        <a:lstStyle/>
        <a:p>
          <a:r>
            <a:rPr lang="en-US" dirty="0"/>
            <a:t>Group #23 (OOAD - Spring 2026)</a:t>
          </a:r>
        </a:p>
        <a:p>
          <a:br>
            <a:rPr lang="en-US" dirty="0"/>
          </a:br>
          <a:r>
            <a:rPr lang="en-US" dirty="0"/>
            <a:t>Abhi Bhardwaj  </a:t>
          </a:r>
        </a:p>
        <a:p>
          <a:r>
            <a:rPr lang="en-US" dirty="0"/>
            <a:t>Ankita Vilas  Pimpalkar</a:t>
          </a:r>
        </a:p>
      </dgm:t>
    </dgm:pt>
    <dgm:pt modelId="{59C9FA61-FF93-456D-8921-534CD99C0C1C}" type="parTrans" cxnId="{2E14C09F-7810-4F8C-B334-92C1AB01E228}">
      <dgm:prSet/>
      <dgm:spPr/>
      <dgm:t>
        <a:bodyPr/>
        <a:lstStyle/>
        <a:p>
          <a:endParaRPr lang="en-US"/>
        </a:p>
      </dgm:t>
    </dgm:pt>
    <dgm:pt modelId="{79EF29A6-49C7-4727-9EC1-C31A3DB0EF18}" type="sibTrans" cxnId="{2E14C09F-7810-4F8C-B334-92C1AB01E228}">
      <dgm:prSet/>
      <dgm:spPr/>
      <dgm:t>
        <a:bodyPr/>
        <a:lstStyle/>
        <a:p>
          <a:endParaRPr lang="en-US"/>
        </a:p>
      </dgm:t>
    </dgm:pt>
    <dgm:pt modelId="{9AD655AC-4661-5A4A-99BA-55FE5571C145}" type="pres">
      <dgm:prSet presAssocID="{E105C7CF-FE53-475F-8951-A341B20BA32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6881F6C-75D0-424A-8C48-1824E63D4E23}" type="pres">
      <dgm:prSet presAssocID="{DC162787-CF3C-42BE-AD86-66FDE2BFBE28}" presName="hierRoot1" presStyleCnt="0"/>
      <dgm:spPr/>
    </dgm:pt>
    <dgm:pt modelId="{1EA6E942-62CB-D949-96A0-97F59B65871C}" type="pres">
      <dgm:prSet presAssocID="{DC162787-CF3C-42BE-AD86-66FDE2BFBE28}" presName="composite" presStyleCnt="0"/>
      <dgm:spPr/>
    </dgm:pt>
    <dgm:pt modelId="{380F4FA9-7D1E-AD4F-BF50-6FCA29E7AF8F}" type="pres">
      <dgm:prSet presAssocID="{DC162787-CF3C-42BE-AD86-66FDE2BFBE28}" presName="background" presStyleLbl="node0" presStyleIdx="0" presStyleCnt="2"/>
      <dgm:spPr/>
    </dgm:pt>
    <dgm:pt modelId="{E1F0E85A-846D-0945-81AB-4781303D4090}" type="pres">
      <dgm:prSet presAssocID="{DC162787-CF3C-42BE-AD86-66FDE2BFBE28}" presName="text" presStyleLbl="fgAcc0" presStyleIdx="0" presStyleCnt="2" custScaleX="341365">
        <dgm:presLayoutVars>
          <dgm:chPref val="3"/>
        </dgm:presLayoutVars>
      </dgm:prSet>
      <dgm:spPr/>
    </dgm:pt>
    <dgm:pt modelId="{B6381F9E-356D-E34D-BC78-BF568925E310}" type="pres">
      <dgm:prSet presAssocID="{DC162787-CF3C-42BE-AD86-66FDE2BFBE28}" presName="hierChild2" presStyleCnt="0"/>
      <dgm:spPr/>
    </dgm:pt>
    <dgm:pt modelId="{3E035B52-B796-9140-A664-458BA6D9BE14}" type="pres">
      <dgm:prSet presAssocID="{2E7CBA23-4630-4FED-AFFA-1E3DAF2CF811}" presName="hierRoot1" presStyleCnt="0"/>
      <dgm:spPr/>
    </dgm:pt>
    <dgm:pt modelId="{E80C5710-C54C-E444-9D37-C989B2F0E89F}" type="pres">
      <dgm:prSet presAssocID="{2E7CBA23-4630-4FED-AFFA-1E3DAF2CF811}" presName="composite" presStyleCnt="0"/>
      <dgm:spPr/>
    </dgm:pt>
    <dgm:pt modelId="{234875A7-B195-5A48-86B4-ABAA6791B22E}" type="pres">
      <dgm:prSet presAssocID="{2E7CBA23-4630-4FED-AFFA-1E3DAF2CF811}" presName="background" presStyleLbl="node0" presStyleIdx="1" presStyleCnt="2"/>
      <dgm:spPr/>
    </dgm:pt>
    <dgm:pt modelId="{D29BCCE7-88FE-2244-8A28-EF27208A9E26}" type="pres">
      <dgm:prSet presAssocID="{2E7CBA23-4630-4FED-AFFA-1E3DAF2CF811}" presName="text" presStyleLbl="fgAcc0" presStyleIdx="1" presStyleCnt="2">
        <dgm:presLayoutVars>
          <dgm:chPref val="3"/>
        </dgm:presLayoutVars>
      </dgm:prSet>
      <dgm:spPr/>
    </dgm:pt>
    <dgm:pt modelId="{0FA3B2DE-2FC6-9C4B-9C67-66ECE47DEE76}" type="pres">
      <dgm:prSet presAssocID="{2E7CBA23-4630-4FED-AFFA-1E3DAF2CF811}" presName="hierChild2" presStyleCnt="0"/>
      <dgm:spPr/>
    </dgm:pt>
  </dgm:ptLst>
  <dgm:cxnLst>
    <dgm:cxn modelId="{A04AFB3C-4633-3C43-87A9-BF5FF381BDC3}" type="presOf" srcId="{2E7CBA23-4630-4FED-AFFA-1E3DAF2CF811}" destId="{D29BCCE7-88FE-2244-8A28-EF27208A9E26}" srcOrd="0" destOrd="0" presId="urn:microsoft.com/office/officeart/2005/8/layout/hierarchy1"/>
    <dgm:cxn modelId="{B2E0675A-7FE7-4127-918B-0364466AC752}" srcId="{E105C7CF-FE53-475F-8951-A341B20BA32D}" destId="{DC162787-CF3C-42BE-AD86-66FDE2BFBE28}" srcOrd="0" destOrd="0" parTransId="{68B1F49E-7398-4CA6-AEAF-92B88D7AB439}" sibTransId="{572B1A6D-B70B-425A-A050-734E144F03F3}"/>
    <dgm:cxn modelId="{2E14C09F-7810-4F8C-B334-92C1AB01E228}" srcId="{E105C7CF-FE53-475F-8951-A341B20BA32D}" destId="{2E7CBA23-4630-4FED-AFFA-1E3DAF2CF811}" srcOrd="1" destOrd="0" parTransId="{59C9FA61-FF93-456D-8921-534CD99C0C1C}" sibTransId="{79EF29A6-49C7-4727-9EC1-C31A3DB0EF18}"/>
    <dgm:cxn modelId="{F5E9B2A4-390A-F24C-A953-47BF0CA40173}" type="presOf" srcId="{DC162787-CF3C-42BE-AD86-66FDE2BFBE28}" destId="{E1F0E85A-846D-0945-81AB-4781303D4090}" srcOrd="0" destOrd="0" presId="urn:microsoft.com/office/officeart/2005/8/layout/hierarchy1"/>
    <dgm:cxn modelId="{1723E6FA-7C0A-8642-BCD1-F85D50A04E21}" type="presOf" srcId="{E105C7CF-FE53-475F-8951-A341B20BA32D}" destId="{9AD655AC-4661-5A4A-99BA-55FE5571C145}" srcOrd="0" destOrd="0" presId="urn:microsoft.com/office/officeart/2005/8/layout/hierarchy1"/>
    <dgm:cxn modelId="{D81ED82D-4190-AF42-B694-C55F600A3C1C}" type="presParOf" srcId="{9AD655AC-4661-5A4A-99BA-55FE5571C145}" destId="{E6881F6C-75D0-424A-8C48-1824E63D4E23}" srcOrd="0" destOrd="0" presId="urn:microsoft.com/office/officeart/2005/8/layout/hierarchy1"/>
    <dgm:cxn modelId="{9B3116BD-FD0C-A542-8AAB-D8A2D9345152}" type="presParOf" srcId="{E6881F6C-75D0-424A-8C48-1824E63D4E23}" destId="{1EA6E942-62CB-D949-96A0-97F59B65871C}" srcOrd="0" destOrd="0" presId="urn:microsoft.com/office/officeart/2005/8/layout/hierarchy1"/>
    <dgm:cxn modelId="{F5A2D9CD-18AB-2243-8509-3A4C58E3C024}" type="presParOf" srcId="{1EA6E942-62CB-D949-96A0-97F59B65871C}" destId="{380F4FA9-7D1E-AD4F-BF50-6FCA29E7AF8F}" srcOrd="0" destOrd="0" presId="urn:microsoft.com/office/officeart/2005/8/layout/hierarchy1"/>
    <dgm:cxn modelId="{926E8058-08BE-AF41-9F67-48262AC24812}" type="presParOf" srcId="{1EA6E942-62CB-D949-96A0-97F59B65871C}" destId="{E1F0E85A-846D-0945-81AB-4781303D4090}" srcOrd="1" destOrd="0" presId="urn:microsoft.com/office/officeart/2005/8/layout/hierarchy1"/>
    <dgm:cxn modelId="{6FF5B122-BF9C-814B-B1B9-1394B33C7BBF}" type="presParOf" srcId="{E6881F6C-75D0-424A-8C48-1824E63D4E23}" destId="{B6381F9E-356D-E34D-BC78-BF568925E310}" srcOrd="1" destOrd="0" presId="urn:microsoft.com/office/officeart/2005/8/layout/hierarchy1"/>
    <dgm:cxn modelId="{50AEA355-080B-724B-BC8F-6CA54A0271EF}" type="presParOf" srcId="{9AD655AC-4661-5A4A-99BA-55FE5571C145}" destId="{3E035B52-B796-9140-A664-458BA6D9BE14}" srcOrd="1" destOrd="0" presId="urn:microsoft.com/office/officeart/2005/8/layout/hierarchy1"/>
    <dgm:cxn modelId="{5997EB70-FBF9-C342-89ED-C3CD4D51B896}" type="presParOf" srcId="{3E035B52-B796-9140-A664-458BA6D9BE14}" destId="{E80C5710-C54C-E444-9D37-C989B2F0E89F}" srcOrd="0" destOrd="0" presId="urn:microsoft.com/office/officeart/2005/8/layout/hierarchy1"/>
    <dgm:cxn modelId="{2590D3AC-0981-624C-B9DF-8D1B9BB49F47}" type="presParOf" srcId="{E80C5710-C54C-E444-9D37-C989B2F0E89F}" destId="{234875A7-B195-5A48-86B4-ABAA6791B22E}" srcOrd="0" destOrd="0" presId="urn:microsoft.com/office/officeart/2005/8/layout/hierarchy1"/>
    <dgm:cxn modelId="{0A620B76-FC82-BD4C-AC02-F24D538F15A1}" type="presParOf" srcId="{E80C5710-C54C-E444-9D37-C989B2F0E89F}" destId="{D29BCCE7-88FE-2244-8A28-EF27208A9E26}" srcOrd="1" destOrd="0" presId="urn:microsoft.com/office/officeart/2005/8/layout/hierarchy1"/>
    <dgm:cxn modelId="{44846164-11E1-9343-B715-0D56D42C95FF}" type="presParOf" srcId="{3E035B52-B796-9140-A664-458BA6D9BE14}" destId="{0FA3B2DE-2FC6-9C4B-9C67-66ECE47DEE7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AF4B76-3DEA-4EEC-8D7D-DDE780EF9E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C5E6D6E-533A-4150-BA1D-09D4DB653D24}">
      <dgm:prSet/>
      <dgm:spPr/>
      <dgm:t>
        <a:bodyPr/>
        <a:lstStyle/>
        <a:p>
          <a:r>
            <a:rPr lang="en-US"/>
            <a:t>The F1 Race Performance Analysis Tool is a web-based application that enables Formula 1 fans and analysts to explore and compare race performance data using the FastF1 API. </a:t>
          </a:r>
        </a:p>
      </dgm:t>
    </dgm:pt>
    <dgm:pt modelId="{122B8CC9-26EB-4630-A22F-E054F2080A15}" type="parTrans" cxnId="{7FC6B9BD-DB3A-4077-B091-F8960365F92A}">
      <dgm:prSet/>
      <dgm:spPr/>
      <dgm:t>
        <a:bodyPr/>
        <a:lstStyle/>
        <a:p>
          <a:endParaRPr lang="en-US"/>
        </a:p>
      </dgm:t>
    </dgm:pt>
    <dgm:pt modelId="{C21F77A1-FC66-4B5C-ACCB-53C7EC3E5FCC}" type="sibTrans" cxnId="{7FC6B9BD-DB3A-4077-B091-F8960365F92A}">
      <dgm:prSet/>
      <dgm:spPr/>
      <dgm:t>
        <a:bodyPr/>
        <a:lstStyle/>
        <a:p>
          <a:endParaRPr lang="en-US"/>
        </a:p>
      </dgm:t>
    </dgm:pt>
    <dgm:pt modelId="{18BC4548-B5D3-487C-AC1E-81727C5D3C69}">
      <dgm:prSet/>
      <dgm:spPr/>
      <dgm:t>
        <a:bodyPr/>
        <a:lstStyle/>
        <a:p>
          <a:r>
            <a:rPr lang="en-US"/>
            <a:t>Users can select a specific season, race, and session, choose drivers to compare, and generate interactive visualizations including lap time comparisons, position tracking over laps, and tyre stint strategies. </a:t>
          </a:r>
        </a:p>
      </dgm:t>
    </dgm:pt>
    <dgm:pt modelId="{EDCC6AF9-FF88-42F7-A1D4-B5438C292E05}" type="parTrans" cxnId="{AD8D8061-F65F-49BC-B27C-E1AE972AC309}">
      <dgm:prSet/>
      <dgm:spPr/>
      <dgm:t>
        <a:bodyPr/>
        <a:lstStyle/>
        <a:p>
          <a:endParaRPr lang="en-US"/>
        </a:p>
      </dgm:t>
    </dgm:pt>
    <dgm:pt modelId="{5C69A770-ED6B-4EF2-8AAC-C18B01FBCF4C}" type="sibTrans" cxnId="{AD8D8061-F65F-49BC-B27C-E1AE972AC309}">
      <dgm:prSet/>
      <dgm:spPr/>
      <dgm:t>
        <a:bodyPr/>
        <a:lstStyle/>
        <a:p>
          <a:endParaRPr lang="en-US"/>
        </a:p>
      </dgm:t>
    </dgm:pt>
    <dgm:pt modelId="{E99690C6-371E-4AE3-9746-03AB20DAFB51}">
      <dgm:prSet/>
      <dgm:spPr/>
      <dgm:t>
        <a:bodyPr/>
        <a:lstStyle/>
        <a:p>
          <a:r>
            <a:rPr lang="en-US"/>
            <a:t>The system retrieves real-time telemetry and timing data from the FastF1 library, processes it through a backend service, and presents the results as dynamic charts. </a:t>
          </a:r>
        </a:p>
      </dgm:t>
    </dgm:pt>
    <dgm:pt modelId="{CC8193CE-2B79-41AC-9EFA-269A6405FA76}" type="parTrans" cxnId="{26BB2835-4850-4127-8352-257B936BBB9B}">
      <dgm:prSet/>
      <dgm:spPr/>
      <dgm:t>
        <a:bodyPr/>
        <a:lstStyle/>
        <a:p>
          <a:endParaRPr lang="en-US"/>
        </a:p>
      </dgm:t>
    </dgm:pt>
    <dgm:pt modelId="{F96D25EC-7C41-4078-B64D-9C948C80BE5D}" type="sibTrans" cxnId="{26BB2835-4850-4127-8352-257B936BBB9B}">
      <dgm:prSet/>
      <dgm:spPr/>
      <dgm:t>
        <a:bodyPr/>
        <a:lstStyle/>
        <a:p>
          <a:endParaRPr lang="en-US"/>
        </a:p>
      </dgm:t>
    </dgm:pt>
    <dgm:pt modelId="{CC7335A7-1A5D-4337-BB33-7418ED75A02B}">
      <dgm:prSet/>
      <dgm:spPr/>
      <dgm:t>
        <a:bodyPr/>
        <a:lstStyle/>
        <a:p>
          <a:r>
            <a:rPr lang="en-US"/>
            <a:t>This tool bridges the gap between raw race data and meaningful visual insights, making it easier for enthusiasts and professionals to analyze race strategies and driver performance.</a:t>
          </a:r>
        </a:p>
      </dgm:t>
    </dgm:pt>
    <dgm:pt modelId="{137AB3D3-6D4A-4E41-AE5D-BFB508EA6203}" type="parTrans" cxnId="{2EEE38C6-7A38-42C9-980C-28112B97FE9C}">
      <dgm:prSet/>
      <dgm:spPr/>
      <dgm:t>
        <a:bodyPr/>
        <a:lstStyle/>
        <a:p>
          <a:endParaRPr lang="en-US"/>
        </a:p>
      </dgm:t>
    </dgm:pt>
    <dgm:pt modelId="{71D70F44-9A04-48DE-9011-E7AAB6416AFE}" type="sibTrans" cxnId="{2EEE38C6-7A38-42C9-980C-28112B97FE9C}">
      <dgm:prSet/>
      <dgm:spPr/>
      <dgm:t>
        <a:bodyPr/>
        <a:lstStyle/>
        <a:p>
          <a:endParaRPr lang="en-US"/>
        </a:p>
      </dgm:t>
    </dgm:pt>
    <dgm:pt modelId="{9B58D1F4-8E07-3C43-B0E0-0A3F3A3A05EE}" type="pres">
      <dgm:prSet presAssocID="{60AF4B76-3DEA-4EEC-8D7D-DDE780EF9E80}" presName="linear" presStyleCnt="0">
        <dgm:presLayoutVars>
          <dgm:animLvl val="lvl"/>
          <dgm:resizeHandles val="exact"/>
        </dgm:presLayoutVars>
      </dgm:prSet>
      <dgm:spPr/>
    </dgm:pt>
    <dgm:pt modelId="{DF1FBF5B-5AAF-CA47-81F5-474C4E055DD6}" type="pres">
      <dgm:prSet presAssocID="{4C5E6D6E-533A-4150-BA1D-09D4DB653D2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CF2750E-9FC4-664D-8CD5-654998D48902}" type="pres">
      <dgm:prSet presAssocID="{C21F77A1-FC66-4B5C-ACCB-53C7EC3E5FCC}" presName="spacer" presStyleCnt="0"/>
      <dgm:spPr/>
    </dgm:pt>
    <dgm:pt modelId="{0B41A12B-108D-F44A-AB25-54E31994F49D}" type="pres">
      <dgm:prSet presAssocID="{18BC4548-B5D3-487C-AC1E-81727C5D3C6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9E5D97F-EAD5-A64D-B858-D721656BC025}" type="pres">
      <dgm:prSet presAssocID="{5C69A770-ED6B-4EF2-8AAC-C18B01FBCF4C}" presName="spacer" presStyleCnt="0"/>
      <dgm:spPr/>
    </dgm:pt>
    <dgm:pt modelId="{D251906B-16FC-974F-A08E-4C5F773F2A03}" type="pres">
      <dgm:prSet presAssocID="{E99690C6-371E-4AE3-9746-03AB20DAFB5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C327068-9637-D642-98E8-1F5EBA501CDF}" type="pres">
      <dgm:prSet presAssocID="{F96D25EC-7C41-4078-B64D-9C948C80BE5D}" presName="spacer" presStyleCnt="0"/>
      <dgm:spPr/>
    </dgm:pt>
    <dgm:pt modelId="{98516306-C4BF-AD45-B830-861A467AB12F}" type="pres">
      <dgm:prSet presAssocID="{CC7335A7-1A5D-4337-BB33-7418ED75A02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9717809-609D-A640-A511-32352E2F389D}" type="presOf" srcId="{60AF4B76-3DEA-4EEC-8D7D-DDE780EF9E80}" destId="{9B58D1F4-8E07-3C43-B0E0-0A3F3A3A05EE}" srcOrd="0" destOrd="0" presId="urn:microsoft.com/office/officeart/2005/8/layout/vList2"/>
    <dgm:cxn modelId="{BE458420-8DB4-334C-8253-DBE8CED9C4E8}" type="presOf" srcId="{18BC4548-B5D3-487C-AC1E-81727C5D3C69}" destId="{0B41A12B-108D-F44A-AB25-54E31994F49D}" srcOrd="0" destOrd="0" presId="urn:microsoft.com/office/officeart/2005/8/layout/vList2"/>
    <dgm:cxn modelId="{70AFF225-B1AD-D748-AF63-D721582FA6D4}" type="presOf" srcId="{E99690C6-371E-4AE3-9746-03AB20DAFB51}" destId="{D251906B-16FC-974F-A08E-4C5F773F2A03}" srcOrd="0" destOrd="0" presId="urn:microsoft.com/office/officeart/2005/8/layout/vList2"/>
    <dgm:cxn modelId="{26BB2835-4850-4127-8352-257B936BBB9B}" srcId="{60AF4B76-3DEA-4EEC-8D7D-DDE780EF9E80}" destId="{E99690C6-371E-4AE3-9746-03AB20DAFB51}" srcOrd="2" destOrd="0" parTransId="{CC8193CE-2B79-41AC-9EFA-269A6405FA76}" sibTransId="{F96D25EC-7C41-4078-B64D-9C948C80BE5D}"/>
    <dgm:cxn modelId="{AD8D8061-F65F-49BC-B27C-E1AE972AC309}" srcId="{60AF4B76-3DEA-4EEC-8D7D-DDE780EF9E80}" destId="{18BC4548-B5D3-487C-AC1E-81727C5D3C69}" srcOrd="1" destOrd="0" parTransId="{EDCC6AF9-FF88-42F7-A1D4-B5438C292E05}" sibTransId="{5C69A770-ED6B-4EF2-8AAC-C18B01FBCF4C}"/>
    <dgm:cxn modelId="{1C75B792-1DD6-A44F-BA00-F2D6DD8E97CD}" type="presOf" srcId="{CC7335A7-1A5D-4337-BB33-7418ED75A02B}" destId="{98516306-C4BF-AD45-B830-861A467AB12F}" srcOrd="0" destOrd="0" presId="urn:microsoft.com/office/officeart/2005/8/layout/vList2"/>
    <dgm:cxn modelId="{3F0EA194-61A4-BC4F-BF92-1AC7144E8FC7}" type="presOf" srcId="{4C5E6D6E-533A-4150-BA1D-09D4DB653D24}" destId="{DF1FBF5B-5AAF-CA47-81F5-474C4E055DD6}" srcOrd="0" destOrd="0" presId="urn:microsoft.com/office/officeart/2005/8/layout/vList2"/>
    <dgm:cxn modelId="{7FC6B9BD-DB3A-4077-B091-F8960365F92A}" srcId="{60AF4B76-3DEA-4EEC-8D7D-DDE780EF9E80}" destId="{4C5E6D6E-533A-4150-BA1D-09D4DB653D24}" srcOrd="0" destOrd="0" parTransId="{122B8CC9-26EB-4630-A22F-E054F2080A15}" sibTransId="{C21F77A1-FC66-4B5C-ACCB-53C7EC3E5FCC}"/>
    <dgm:cxn modelId="{2EEE38C6-7A38-42C9-980C-28112B97FE9C}" srcId="{60AF4B76-3DEA-4EEC-8D7D-DDE780EF9E80}" destId="{CC7335A7-1A5D-4337-BB33-7418ED75A02B}" srcOrd="3" destOrd="0" parTransId="{137AB3D3-6D4A-4E41-AE5D-BFB508EA6203}" sibTransId="{71D70F44-9A04-48DE-9011-E7AAB6416AFE}"/>
    <dgm:cxn modelId="{030F8283-25BA-634A-9BB2-7EA275A00B18}" type="presParOf" srcId="{9B58D1F4-8E07-3C43-B0E0-0A3F3A3A05EE}" destId="{DF1FBF5B-5AAF-CA47-81F5-474C4E055DD6}" srcOrd="0" destOrd="0" presId="urn:microsoft.com/office/officeart/2005/8/layout/vList2"/>
    <dgm:cxn modelId="{A76E4B25-CBB1-B344-8454-E59E924D1BB4}" type="presParOf" srcId="{9B58D1F4-8E07-3C43-B0E0-0A3F3A3A05EE}" destId="{3CF2750E-9FC4-664D-8CD5-654998D48902}" srcOrd="1" destOrd="0" presId="urn:microsoft.com/office/officeart/2005/8/layout/vList2"/>
    <dgm:cxn modelId="{9F321DCF-DC6B-364F-B450-D67DA6AA19BA}" type="presParOf" srcId="{9B58D1F4-8E07-3C43-B0E0-0A3F3A3A05EE}" destId="{0B41A12B-108D-F44A-AB25-54E31994F49D}" srcOrd="2" destOrd="0" presId="urn:microsoft.com/office/officeart/2005/8/layout/vList2"/>
    <dgm:cxn modelId="{48360076-EE65-8345-90F4-04EA0D29F21B}" type="presParOf" srcId="{9B58D1F4-8E07-3C43-B0E0-0A3F3A3A05EE}" destId="{69E5D97F-EAD5-A64D-B858-D721656BC025}" srcOrd="3" destOrd="0" presId="urn:microsoft.com/office/officeart/2005/8/layout/vList2"/>
    <dgm:cxn modelId="{39DF3478-A4FA-7445-A7DE-694AC3AB9C7B}" type="presParOf" srcId="{9B58D1F4-8E07-3C43-B0E0-0A3F3A3A05EE}" destId="{D251906B-16FC-974F-A08E-4C5F773F2A03}" srcOrd="4" destOrd="0" presId="urn:microsoft.com/office/officeart/2005/8/layout/vList2"/>
    <dgm:cxn modelId="{1EB64624-36FB-C74C-AC1C-FC0B827CD128}" type="presParOf" srcId="{9B58D1F4-8E07-3C43-B0E0-0A3F3A3A05EE}" destId="{2C327068-9637-D642-98E8-1F5EBA501CDF}" srcOrd="5" destOrd="0" presId="urn:microsoft.com/office/officeart/2005/8/layout/vList2"/>
    <dgm:cxn modelId="{23B747F6-4DA0-7641-A7F9-8E6E3B286A53}" type="presParOf" srcId="{9B58D1F4-8E07-3C43-B0E0-0A3F3A3A05EE}" destId="{98516306-C4BF-AD45-B830-861A467AB12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F4FA9-7D1E-AD4F-BF50-6FCA29E7AF8F}">
      <dsp:nvSpPr>
        <dsp:cNvPr id="0" name=""/>
        <dsp:cNvSpPr/>
      </dsp:nvSpPr>
      <dsp:spPr>
        <a:xfrm>
          <a:off x="508833" y="321"/>
          <a:ext cx="6446869" cy="119923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1F0E85A-846D-0945-81AB-4781303D4090}">
      <dsp:nvSpPr>
        <dsp:cNvPr id="0" name=""/>
        <dsp:cNvSpPr/>
      </dsp:nvSpPr>
      <dsp:spPr>
        <a:xfrm>
          <a:off x="718673" y="199668"/>
          <a:ext cx="6446869" cy="11992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F1 Race Performance Analysis Tool</a:t>
          </a:r>
          <a:endParaRPr lang="en-US" sz="4000" kern="1200" dirty="0"/>
        </a:p>
      </dsp:txBody>
      <dsp:txXfrm>
        <a:off x="753797" y="234792"/>
        <a:ext cx="6376621" cy="1128985"/>
      </dsp:txXfrm>
    </dsp:sp>
    <dsp:sp modelId="{234875A7-B195-5A48-86B4-ABAA6791B22E}">
      <dsp:nvSpPr>
        <dsp:cNvPr id="0" name=""/>
        <dsp:cNvSpPr/>
      </dsp:nvSpPr>
      <dsp:spPr>
        <a:xfrm>
          <a:off x="7375382" y="321"/>
          <a:ext cx="1888556" cy="119923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29BCCE7-88FE-2244-8A28-EF27208A9E26}">
      <dsp:nvSpPr>
        <dsp:cNvPr id="0" name=""/>
        <dsp:cNvSpPr/>
      </dsp:nvSpPr>
      <dsp:spPr>
        <a:xfrm>
          <a:off x="7585222" y="199668"/>
          <a:ext cx="1888556" cy="11992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Group #23 (OOAD - Spring 2026)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200" kern="1200" dirty="0"/>
          </a:br>
          <a:r>
            <a:rPr lang="en-US" sz="1200" kern="1200" dirty="0"/>
            <a:t>Abhi Bhardwaj 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Ankita Vilas  Pimpalkar</a:t>
          </a:r>
        </a:p>
      </dsp:txBody>
      <dsp:txXfrm>
        <a:off x="7620346" y="234792"/>
        <a:ext cx="1818308" cy="1128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1FBF5B-5AAF-CA47-81F5-474C4E055DD6}">
      <dsp:nvSpPr>
        <dsp:cNvPr id="0" name=""/>
        <dsp:cNvSpPr/>
      </dsp:nvSpPr>
      <dsp:spPr>
        <a:xfrm>
          <a:off x="0" y="102396"/>
          <a:ext cx="5247340" cy="10568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F1 Race Performance Analysis Tool is a web-based application that enables Formula 1 fans and analysts to explore and compare race performance data using the FastF1 API. </a:t>
          </a:r>
        </a:p>
      </dsp:txBody>
      <dsp:txXfrm>
        <a:off x="51591" y="153987"/>
        <a:ext cx="5144158" cy="953657"/>
      </dsp:txXfrm>
    </dsp:sp>
    <dsp:sp modelId="{0B41A12B-108D-F44A-AB25-54E31994F49D}">
      <dsp:nvSpPr>
        <dsp:cNvPr id="0" name=""/>
        <dsp:cNvSpPr/>
      </dsp:nvSpPr>
      <dsp:spPr>
        <a:xfrm>
          <a:off x="0" y="1202435"/>
          <a:ext cx="5247340" cy="10568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Users can select a specific season, race, and session, choose drivers to compare, and generate interactive visualizations including lap time comparisons, position tracking over laps, and tyre stint strategies. </a:t>
          </a:r>
        </a:p>
      </dsp:txBody>
      <dsp:txXfrm>
        <a:off x="51591" y="1254026"/>
        <a:ext cx="5144158" cy="953657"/>
      </dsp:txXfrm>
    </dsp:sp>
    <dsp:sp modelId="{D251906B-16FC-974F-A08E-4C5F773F2A03}">
      <dsp:nvSpPr>
        <dsp:cNvPr id="0" name=""/>
        <dsp:cNvSpPr/>
      </dsp:nvSpPr>
      <dsp:spPr>
        <a:xfrm>
          <a:off x="0" y="2302474"/>
          <a:ext cx="5247340" cy="10568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system retrieves real-time telemetry and timing data from the FastF1 library, processes it through a backend service, and presents the results as dynamic charts. </a:t>
          </a:r>
        </a:p>
      </dsp:txBody>
      <dsp:txXfrm>
        <a:off x="51591" y="2354065"/>
        <a:ext cx="5144158" cy="953657"/>
      </dsp:txXfrm>
    </dsp:sp>
    <dsp:sp modelId="{98516306-C4BF-AD45-B830-861A467AB12F}">
      <dsp:nvSpPr>
        <dsp:cNvPr id="0" name=""/>
        <dsp:cNvSpPr/>
      </dsp:nvSpPr>
      <dsp:spPr>
        <a:xfrm>
          <a:off x="0" y="3402513"/>
          <a:ext cx="5247340" cy="10568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This tool bridges the gap between raw race data and meaningful visual insights, making it easier for enthusiasts and professionals to analyze race strategies and driver performance.</a:t>
          </a:r>
        </a:p>
      </dsp:txBody>
      <dsp:txXfrm>
        <a:off x="51591" y="3454104"/>
        <a:ext cx="5144158" cy="9536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kitaVilasPimpalkar08/CSCI_6234_Spring_2026_G23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560D2C2-B490-5564-9499-F908063695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13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5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24C856-FAE5-7187-9862-111CE9F1F3F4}"/>
              </a:ext>
            </a:extLst>
          </p:cNvPr>
          <p:cNvSpPr txBox="1"/>
          <p:nvPr/>
        </p:nvSpPr>
        <p:spPr>
          <a:xfrm>
            <a:off x="3048953" y="3250049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479D4A-9D01-7D81-BA81-E0FF4B30ED72}"/>
              </a:ext>
            </a:extLst>
          </p:cNvPr>
          <p:cNvSpPr txBox="1"/>
          <p:nvPr/>
        </p:nvSpPr>
        <p:spPr>
          <a:xfrm>
            <a:off x="2708131" y="4305141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graphicFrame>
        <p:nvGraphicFramePr>
          <p:cNvPr id="6" name="TextBox 1">
            <a:extLst>
              <a:ext uri="{FF2B5EF4-FFF2-40B4-BE49-F238E27FC236}">
                <a16:creationId xmlns:a16="http://schemas.microsoft.com/office/drawing/2014/main" id="{FD40E62A-241A-D8BC-55BC-E1244C959A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1057179"/>
              </p:ext>
            </p:extLst>
          </p:nvPr>
        </p:nvGraphicFramePr>
        <p:xfrm>
          <a:off x="2209388" y="4881004"/>
          <a:ext cx="9982612" cy="13992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acecar parked on the tracks">
            <a:extLst>
              <a:ext uri="{FF2B5EF4-FFF2-40B4-BE49-F238E27FC236}">
                <a16:creationId xmlns:a16="http://schemas.microsoft.com/office/drawing/2014/main" id="{CD7CC131-A2BF-4BE4-C43B-C5926E01A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35" r="36626" b="-1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115317" y="405685"/>
            <a:ext cx="5464968" cy="1559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3366"/>
                </a:solidFill>
              </a:defRPr>
            </a:pPr>
            <a:r>
              <a:rPr lang="en-US" sz="4000">
                <a:latin typeface="+mj-lt"/>
                <a:ea typeface="+mj-ea"/>
                <a:cs typeface="+mj-cs"/>
              </a:rPr>
              <a:t>Project Description</a:t>
            </a:r>
          </a:p>
        </p:txBody>
      </p:sp>
      <p:graphicFrame>
        <p:nvGraphicFramePr>
          <p:cNvPr id="13" name="TextBox 2">
            <a:extLst>
              <a:ext uri="{FF2B5EF4-FFF2-40B4-BE49-F238E27FC236}">
                <a16:creationId xmlns:a16="http://schemas.microsoft.com/office/drawing/2014/main" id="{D9F2FEC9-1E62-F615-0AEB-5971ADF67FFD}"/>
              </a:ext>
            </a:extLst>
          </p:cNvPr>
          <p:cNvGraphicFramePr/>
          <p:nvPr/>
        </p:nvGraphicFramePr>
        <p:xfrm>
          <a:off x="6115317" y="1678329"/>
          <a:ext cx="5247340" cy="4561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3366"/>
                </a:solidFill>
              </a:defRPr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Case Model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UseCase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56374"/>
            <a:ext cx="11548872" cy="36520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3366"/>
                </a:solidFill>
              </a:defRPr>
            </a:pP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Robustness Diagram: Select Season, Race &amp; Session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elect_Season_Race_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679883"/>
            <a:ext cx="11548872" cy="3493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3366"/>
                </a:solidFill>
              </a:defRPr>
            </a:pPr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Robustness Diagram: Select Drivers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elect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819362"/>
            <a:ext cx="11548872" cy="24590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3366"/>
                </a:solidFill>
              </a:defRPr>
            </a:pP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Robustness Diagram: View Lap Time Comparison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View_Lap_Ti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84858"/>
            <a:ext cx="11548872" cy="30544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3366"/>
                </a:solidFill>
              </a:defRPr>
            </a:pP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Robustness Diagram: View Position Over Laps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View_Position_Over_L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02673"/>
            <a:ext cx="11548872" cy="32943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3366"/>
                </a:solidFill>
              </a:defRPr>
            </a:pPr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Robustness Diagram: View Tyre Stints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View_Tyre_St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92730"/>
            <a:ext cx="11548872" cy="31476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03366"/>
                </a:solidFill>
              </a:defRPr>
            </a:pPr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Domain Model (UML Class Diagram)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Domain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62" y="2102834"/>
            <a:ext cx="10395228" cy="41169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sX0" fmla="*/ 0 w 5649003"/>
              <a:gd name="csY0" fmla="*/ 5325836 h 10651671"/>
              <a:gd name="csX1" fmla="*/ 2824502 w 5649003"/>
              <a:gd name="csY1" fmla="*/ 0 h 10651671"/>
              <a:gd name="csX2" fmla="*/ 5649004 w 5649003"/>
              <a:gd name="csY2" fmla="*/ 5325836 h 10651671"/>
              <a:gd name="csX3" fmla="*/ 2824502 w 5649003"/>
              <a:gd name="csY3" fmla="*/ 10651672 h 10651671"/>
              <a:gd name="csX4" fmla="*/ 0 w 5649003"/>
              <a:gd name="csY4" fmla="*/ 5325836 h 106516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066544" y="1911096"/>
            <a:ext cx="8055864" cy="20766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3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GitHub Repository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200"/>
            </a:pPr>
            <a:endParaRPr lang="en-US" sz="31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https://github.com/AnkitaVilasPimpalkar08/CSCI_6234_Spring_2026_G23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207</Words>
  <Application>Microsoft Macintosh PowerPoint</Application>
  <PresentationFormat>Widescreen</PresentationFormat>
  <Paragraphs>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Pimpalkar, Ankita Vilas</cp:lastModifiedBy>
  <cp:revision>5</cp:revision>
  <dcterms:created xsi:type="dcterms:W3CDTF">2013-01-27T09:14:16Z</dcterms:created>
  <dcterms:modified xsi:type="dcterms:W3CDTF">2026-02-19T22:01:27Z</dcterms:modified>
  <cp:category/>
</cp:coreProperties>
</file>